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7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34e864c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34e864c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934e864c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934e864c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fb1f937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7fb1f937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fb1f9377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fb1f9377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934e864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934e864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934e864c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934e864c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ro-color.com/colorchart/tone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ro-color.com/colorchart/ton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iro-color.com/colorchart/ton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954900"/>
            <a:ext cx="8520600" cy="13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rgbClr val="000000"/>
                </a:solidFill>
              </a:rPr>
              <a:t>ファイル名に「※編集不可/コピー必須」と記載のとおり、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rgbClr val="000000"/>
                </a:solidFill>
              </a:rPr>
              <a:t>このファイルはSAMURAIの共有ドライブ上で受講生様に共有するためのファイルです。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rgbClr val="000000"/>
                </a:solidFill>
              </a:rPr>
              <a:t>そのため、</a:t>
            </a:r>
            <a:r>
              <a:rPr lang="ja" sz="1400">
                <a:solidFill>
                  <a:srgbClr val="FF0000"/>
                </a:solidFill>
              </a:rPr>
              <a:t>閲覧権限しか付与していないため、そのまま編集しようとしてもできません。</a:t>
            </a:r>
            <a:endParaRPr sz="1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rgbClr val="000000"/>
                </a:solidFill>
              </a:rPr>
              <a:t>ご利用いただくには、この共有用ファイルをコピーしてからご利用いただきます。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rgbClr val="000000"/>
                </a:solidFill>
              </a:rPr>
              <a:t>以下のように</a:t>
            </a:r>
            <a:r>
              <a:rPr b="1" lang="ja" sz="1400">
                <a:solidFill>
                  <a:srgbClr val="000000"/>
                </a:solidFill>
              </a:rPr>
              <a:t>「ファイル &gt; コピーを作成</a:t>
            </a:r>
            <a:r>
              <a:rPr b="1" lang="ja" sz="1400">
                <a:solidFill>
                  <a:schemeClr val="dk1"/>
                </a:solidFill>
              </a:rPr>
              <a:t> &gt; プレゼンテーション全体</a:t>
            </a:r>
            <a:r>
              <a:rPr b="1" lang="ja" sz="1400">
                <a:solidFill>
                  <a:srgbClr val="000000"/>
                </a:solidFill>
              </a:rPr>
              <a:t>」を選択して、マイドライブにコピーを保存してください。</a:t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　ワークシートの使用準備</a:t>
            </a:r>
            <a:endParaRPr b="1" sz="23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90000"/>
            <a:ext cx="8839204" cy="217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54900"/>
            <a:ext cx="8520600" cy="13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/>
              <a:t>以下のような場合、編集できないことがあります。ご注意ください。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/>
              <a:t>・マイドライブにコピーを作成できていない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/>
              <a:t>・このファイルを直接編集しようとしている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/>
              <a:t>どうしても解決できない場合、Q&amp;Aでお問い合わせください。</a:t>
            </a:r>
            <a:endParaRPr sz="1400"/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　ワークシートが使用できない場合</a:t>
            </a:r>
            <a:endParaRPr b="1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　作業方法（1）</a:t>
            </a:r>
            <a:endParaRPr b="1" sz="23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01" y="1718850"/>
            <a:ext cx="3846351" cy="135315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5"/>
          <p:cNvSpPr txBox="1"/>
          <p:nvPr/>
        </p:nvSpPr>
        <p:spPr>
          <a:xfrm>
            <a:off x="256250" y="1103250"/>
            <a:ext cx="421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1. 色を変えたい図形を選択する。</a:t>
            </a:r>
            <a:br>
              <a:rPr lang="ja"/>
            </a:br>
            <a:r>
              <a:rPr lang="ja"/>
              <a:t>（選択した図形は以下のように青枠で囲まれる）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88113" l="0" r="0" t="0"/>
          <a:stretch/>
        </p:blipFill>
        <p:spPr>
          <a:xfrm>
            <a:off x="4468025" y="1726850"/>
            <a:ext cx="4317000" cy="317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/>
          <p:nvPr/>
        </p:nvSpPr>
        <p:spPr>
          <a:xfrm>
            <a:off x="6880886" y="1791114"/>
            <a:ext cx="200100" cy="20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4468025" y="1103250"/>
            <a:ext cx="43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2. 「塗りつぶしの色」を選択する。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　作業方法（2）</a:t>
            </a:r>
            <a:endParaRPr b="1" sz="2300"/>
          </a:p>
        </p:txBody>
      </p:sp>
      <p:sp>
        <p:nvSpPr>
          <p:cNvPr id="78" name="Google Shape;78;p16"/>
          <p:cNvSpPr txBox="1"/>
          <p:nvPr/>
        </p:nvSpPr>
        <p:spPr>
          <a:xfrm>
            <a:off x="256250" y="1103250"/>
            <a:ext cx="59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3.カスタムにある十字マーク「カスタムの色を追加する」を選択する。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479" y="1484725"/>
            <a:ext cx="2336697" cy="26685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16"/>
          <p:cNvSpPr/>
          <p:nvPr/>
        </p:nvSpPr>
        <p:spPr>
          <a:xfrm>
            <a:off x="2774979" y="3315300"/>
            <a:ext cx="661200" cy="28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154029" y="2782325"/>
            <a:ext cx="303600" cy="25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883601" y="2557492"/>
            <a:ext cx="26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0000"/>
                </a:solidFill>
              </a:rPr>
              <a:t>❶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515656" y="3040067"/>
            <a:ext cx="26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0000"/>
                </a:solidFill>
              </a:rPr>
              <a:t>❷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089300" y="1756988"/>
            <a:ext cx="3460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以下の①と②を使って色を調整する。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①スポイト（画面にある色を抽出）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②16進数（カラーコード）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※8桁のカラーコードの場合、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　下2桁は透過度を表します。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FF0000"/>
                </a:solidFill>
              </a:rPr>
              <a:t>　本課題では透過度は変更しないため、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rgbClr val="FF0000"/>
                </a:solidFill>
              </a:rPr>
              <a:t>　</a:t>
            </a:r>
            <a:r>
              <a:rPr b="1" lang="ja">
                <a:solidFill>
                  <a:srgbClr val="FF0000"/>
                </a:solidFill>
              </a:rPr>
              <a:t>下2桁は「ff」</a:t>
            </a:r>
            <a:r>
              <a:rPr lang="ja">
                <a:solidFill>
                  <a:srgbClr val="FF0000"/>
                </a:solidFill>
              </a:rPr>
              <a:t>としてください。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54164" l="55892" r="12829" t="1839"/>
          <a:stretch/>
        </p:blipFill>
        <p:spPr>
          <a:xfrm>
            <a:off x="256250" y="1490250"/>
            <a:ext cx="2182849" cy="189797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6"/>
          <p:cNvSpPr/>
          <p:nvPr/>
        </p:nvSpPr>
        <p:spPr>
          <a:xfrm>
            <a:off x="1932450" y="3078175"/>
            <a:ext cx="208800" cy="20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737200" y="2238575"/>
            <a:ext cx="5368800" cy="809100"/>
          </a:xfrm>
          <a:prstGeom prst="rect">
            <a:avLst/>
          </a:prstGeom>
          <a:solidFill>
            <a:srgbClr val="FFF9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105968" y="2238575"/>
            <a:ext cx="1917300" cy="809100"/>
          </a:xfrm>
          <a:prstGeom prst="rect">
            <a:avLst/>
          </a:prstGeom>
          <a:solidFill>
            <a:srgbClr val="A2D7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8023385" y="2238575"/>
            <a:ext cx="383400" cy="809100"/>
          </a:xfrm>
          <a:prstGeom prst="rect">
            <a:avLst/>
          </a:prstGeom>
          <a:solidFill>
            <a:srgbClr val="849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37200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ベースカラー</a:t>
            </a:r>
            <a:endParaRPr b="1" sz="1700"/>
          </a:p>
        </p:txBody>
      </p:sp>
      <p:sp>
        <p:nvSpPr>
          <p:cNvPr id="95" name="Google Shape;95;p17"/>
          <p:cNvSpPr txBox="1"/>
          <p:nvPr/>
        </p:nvSpPr>
        <p:spPr>
          <a:xfrm>
            <a:off x="6105975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メイン</a:t>
            </a:r>
            <a:r>
              <a:rPr b="1" lang="ja" sz="1700"/>
              <a:t>カラー</a:t>
            </a:r>
            <a:endParaRPr b="1" sz="1700"/>
          </a:p>
        </p:txBody>
      </p:sp>
      <p:sp>
        <p:nvSpPr>
          <p:cNvPr id="96" name="Google Shape;96;p17"/>
          <p:cNvSpPr txBox="1"/>
          <p:nvPr/>
        </p:nvSpPr>
        <p:spPr>
          <a:xfrm>
            <a:off x="6432775" y="3478775"/>
            <a:ext cx="197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アクセント</a:t>
            </a:r>
            <a:r>
              <a:rPr b="1" lang="ja" sz="1700"/>
              <a:t>カラー</a:t>
            </a:r>
            <a:endParaRPr b="1" sz="1700"/>
          </a:p>
        </p:txBody>
      </p:sp>
      <p:cxnSp>
        <p:nvCxnSpPr>
          <p:cNvPr id="97" name="Google Shape;97;p17"/>
          <p:cNvCxnSpPr/>
          <p:nvPr/>
        </p:nvCxnSpPr>
        <p:spPr>
          <a:xfrm>
            <a:off x="1459675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/>
          <p:nvPr/>
        </p:nvCxnSpPr>
        <p:spPr>
          <a:xfrm>
            <a:off x="6867375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 rot="10800000">
            <a:off x="8215075" y="30476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7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（</a:t>
            </a:r>
            <a:r>
              <a:rPr b="1" lang="ja" sz="2300"/>
              <a:t>例題）条件：小学生女子に好まれる透明感ある柔らかな配色</a:t>
            </a:r>
            <a:endParaRPr b="1" sz="2300"/>
          </a:p>
        </p:txBody>
      </p:sp>
      <p:sp>
        <p:nvSpPr>
          <p:cNvPr id="101" name="Google Shape;101;p17"/>
          <p:cNvSpPr txBox="1"/>
          <p:nvPr/>
        </p:nvSpPr>
        <p:spPr>
          <a:xfrm>
            <a:off x="2072100" y="4258150"/>
            <a:ext cx="4999800" cy="5487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ベースカラーとメインカラーは</a:t>
            </a:r>
            <a:r>
              <a:rPr b="1" lang="ja" sz="1100">
                <a:solidFill>
                  <a:schemeClr val="dk1"/>
                </a:solidFill>
              </a:rPr>
              <a:t>Pale tone</a:t>
            </a:r>
            <a:r>
              <a:rPr lang="ja" sz="1100">
                <a:solidFill>
                  <a:schemeClr val="dk1"/>
                </a:solidFill>
              </a:rPr>
              <a:t>から選ぶ。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（ヒント：</a:t>
            </a:r>
            <a:r>
              <a:rPr lang="ja" sz="1100" u="sng">
                <a:solidFill>
                  <a:schemeClr val="hlink"/>
                </a:solidFill>
                <a:hlinkClick r:id="rId3"/>
              </a:rPr>
              <a:t>色カラー</a:t>
            </a:r>
            <a:r>
              <a:rPr lang="ja" sz="1100">
                <a:solidFill>
                  <a:schemeClr val="dk1"/>
                </a:solidFill>
              </a:rPr>
              <a:t>を参照して指定のトーンのカラーを選択しましょう）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737213" y="2238575"/>
            <a:ext cx="5368800" cy="809100"/>
          </a:xfrm>
          <a:prstGeom prst="rect">
            <a:avLst/>
          </a:prstGeom>
          <a:solidFill>
            <a:srgbClr val="FFF7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6105980" y="2238575"/>
            <a:ext cx="1917300" cy="809100"/>
          </a:xfrm>
          <a:prstGeom prst="rect">
            <a:avLst/>
          </a:prstGeom>
          <a:solidFill>
            <a:srgbClr val="FDB4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8023397" y="2238575"/>
            <a:ext cx="383400" cy="809100"/>
          </a:xfrm>
          <a:prstGeom prst="rect">
            <a:avLst/>
          </a:prstGeom>
          <a:solidFill>
            <a:srgbClr val="DF01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737213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ベースカラー</a:t>
            </a:r>
            <a:endParaRPr b="1" sz="1700"/>
          </a:p>
        </p:txBody>
      </p:sp>
      <p:sp>
        <p:nvSpPr>
          <p:cNvPr id="110" name="Google Shape;110;p18"/>
          <p:cNvSpPr txBox="1"/>
          <p:nvPr/>
        </p:nvSpPr>
        <p:spPr>
          <a:xfrm>
            <a:off x="6105988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メインカラー</a:t>
            </a:r>
            <a:endParaRPr b="1" sz="1700"/>
          </a:p>
        </p:txBody>
      </p:sp>
      <p:sp>
        <p:nvSpPr>
          <p:cNvPr id="111" name="Google Shape;111;p18"/>
          <p:cNvSpPr txBox="1"/>
          <p:nvPr/>
        </p:nvSpPr>
        <p:spPr>
          <a:xfrm>
            <a:off x="6432788" y="3478775"/>
            <a:ext cx="197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アクセントカラー</a:t>
            </a:r>
            <a:endParaRPr b="1" sz="1700"/>
          </a:p>
        </p:txBody>
      </p:sp>
      <p:cxnSp>
        <p:nvCxnSpPr>
          <p:cNvPr id="112" name="Google Shape;112;p18"/>
          <p:cNvCxnSpPr/>
          <p:nvPr/>
        </p:nvCxnSpPr>
        <p:spPr>
          <a:xfrm>
            <a:off x="1459688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8"/>
          <p:cNvCxnSpPr/>
          <p:nvPr/>
        </p:nvCxnSpPr>
        <p:spPr>
          <a:xfrm>
            <a:off x="6867388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8"/>
          <p:cNvCxnSpPr/>
          <p:nvPr/>
        </p:nvCxnSpPr>
        <p:spPr>
          <a:xfrm rot="10800000">
            <a:off x="8215088" y="30476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8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（1）</a:t>
            </a:r>
            <a:r>
              <a:rPr b="1" lang="ja" sz="2300"/>
              <a:t>条件：幼稚園生に好まれる明るい配色</a:t>
            </a:r>
            <a:endParaRPr b="1" sz="2300"/>
          </a:p>
        </p:txBody>
      </p:sp>
      <p:sp>
        <p:nvSpPr>
          <p:cNvPr id="116" name="Google Shape;116;p18"/>
          <p:cNvSpPr txBox="1"/>
          <p:nvPr/>
        </p:nvSpPr>
        <p:spPr>
          <a:xfrm>
            <a:off x="2072100" y="4258150"/>
            <a:ext cx="4999800" cy="5487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ベースカラーとメインカラーは</a:t>
            </a:r>
            <a:r>
              <a:rPr b="1" lang="ja" sz="1100">
                <a:solidFill>
                  <a:schemeClr val="dk1"/>
                </a:solidFill>
              </a:rPr>
              <a:t>Bright tone</a:t>
            </a:r>
            <a:r>
              <a:rPr lang="ja" sz="1100">
                <a:solidFill>
                  <a:schemeClr val="dk1"/>
                </a:solidFill>
              </a:rPr>
              <a:t>から選ぶ。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（ヒント：</a:t>
            </a:r>
            <a:r>
              <a:rPr lang="ja" sz="1100" u="sng">
                <a:solidFill>
                  <a:schemeClr val="hlink"/>
                </a:solidFill>
                <a:hlinkClick r:id="rId3"/>
              </a:rPr>
              <a:t>色カラー</a:t>
            </a:r>
            <a:r>
              <a:rPr lang="ja" sz="1100">
                <a:solidFill>
                  <a:schemeClr val="dk1"/>
                </a:solidFill>
              </a:rPr>
              <a:t>を参照して指定のトーンのカラーを選択しましょう）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737213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ベースカラー</a:t>
            </a:r>
            <a:endParaRPr b="1" sz="1700"/>
          </a:p>
        </p:txBody>
      </p:sp>
      <p:sp>
        <p:nvSpPr>
          <p:cNvPr id="122" name="Google Shape;122;p19"/>
          <p:cNvSpPr txBox="1"/>
          <p:nvPr/>
        </p:nvSpPr>
        <p:spPr>
          <a:xfrm>
            <a:off x="6105988" y="1361075"/>
            <a:ext cx="15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メインカラー</a:t>
            </a:r>
            <a:endParaRPr b="1" sz="1700"/>
          </a:p>
        </p:txBody>
      </p:sp>
      <p:sp>
        <p:nvSpPr>
          <p:cNvPr id="123" name="Google Shape;123;p19"/>
          <p:cNvSpPr txBox="1"/>
          <p:nvPr/>
        </p:nvSpPr>
        <p:spPr>
          <a:xfrm>
            <a:off x="6432788" y="3478775"/>
            <a:ext cx="197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/>
              <a:t>アクセントカラー</a:t>
            </a:r>
            <a:endParaRPr b="1" sz="1700"/>
          </a:p>
        </p:txBody>
      </p:sp>
      <p:cxnSp>
        <p:nvCxnSpPr>
          <p:cNvPr id="124" name="Google Shape;124;p19"/>
          <p:cNvCxnSpPr/>
          <p:nvPr/>
        </p:nvCxnSpPr>
        <p:spPr>
          <a:xfrm>
            <a:off x="1459688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9"/>
          <p:cNvCxnSpPr/>
          <p:nvPr/>
        </p:nvCxnSpPr>
        <p:spPr>
          <a:xfrm>
            <a:off x="6867388" y="18074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9"/>
          <p:cNvCxnSpPr/>
          <p:nvPr/>
        </p:nvCxnSpPr>
        <p:spPr>
          <a:xfrm rot="10800000">
            <a:off x="8215088" y="3047675"/>
            <a:ext cx="0" cy="43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/>
          <p:nvPr/>
        </p:nvSpPr>
        <p:spPr>
          <a:xfrm>
            <a:off x="0" y="0"/>
            <a:ext cx="9144000" cy="87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/>
              <a:t>（2）条件：</a:t>
            </a:r>
            <a:r>
              <a:rPr b="1" lang="ja" sz="2300"/>
              <a:t>60代に好まれる落ち着いた配色</a:t>
            </a:r>
            <a:endParaRPr b="1" sz="2300"/>
          </a:p>
        </p:txBody>
      </p:sp>
      <p:sp>
        <p:nvSpPr>
          <p:cNvPr id="128" name="Google Shape;128;p19"/>
          <p:cNvSpPr/>
          <p:nvPr/>
        </p:nvSpPr>
        <p:spPr>
          <a:xfrm>
            <a:off x="737213" y="2238575"/>
            <a:ext cx="5368800" cy="809100"/>
          </a:xfrm>
          <a:prstGeom prst="rect">
            <a:avLst/>
          </a:prstGeom>
          <a:solidFill>
            <a:srgbClr val="3E39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6105980" y="2238575"/>
            <a:ext cx="1917300" cy="809100"/>
          </a:xfrm>
          <a:prstGeom prst="rect">
            <a:avLst/>
          </a:prstGeom>
          <a:solidFill>
            <a:srgbClr val="0087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8023397" y="2238575"/>
            <a:ext cx="383400" cy="809100"/>
          </a:xfrm>
          <a:prstGeom prst="rect">
            <a:avLst/>
          </a:prstGeom>
          <a:solidFill>
            <a:srgbClr val="A70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2072100" y="4258150"/>
            <a:ext cx="4999800" cy="5487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ベースカラーとメインカラーは</a:t>
            </a:r>
            <a:r>
              <a:rPr b="1" lang="ja" sz="1100">
                <a:solidFill>
                  <a:schemeClr val="dk1"/>
                </a:solidFill>
              </a:rPr>
              <a:t>Grayish tone</a:t>
            </a:r>
            <a:r>
              <a:rPr lang="ja" sz="1100">
                <a:solidFill>
                  <a:schemeClr val="dk1"/>
                </a:solidFill>
              </a:rPr>
              <a:t>から選ぶ。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（ヒント：</a:t>
            </a:r>
            <a:r>
              <a:rPr lang="ja" sz="1100" u="sng">
                <a:solidFill>
                  <a:schemeClr val="hlink"/>
                </a:solidFill>
                <a:hlinkClick r:id="rId3"/>
              </a:rPr>
              <a:t>色カラー</a:t>
            </a:r>
            <a:r>
              <a:rPr lang="ja" sz="1100">
                <a:solidFill>
                  <a:schemeClr val="dk1"/>
                </a:solidFill>
              </a:rPr>
              <a:t>を参照して指定のトーンのカラーを選択しましょう）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